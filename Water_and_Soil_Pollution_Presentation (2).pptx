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365760"/>
            <a:ext cx="1097280" cy="10972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0" y="411480"/>
            <a:ext cx="1097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5" name="Oval 4"/>
          <p:cNvSpPr/>
          <p:nvPr/>
        </p:nvSpPr>
        <p:spPr>
          <a:xfrm>
            <a:off x="7863840" y="1188720"/>
            <a:ext cx="731520" cy="73152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234440"/>
            <a:ext cx="731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" b="1">
                <a:solidFill>
                  <a:srgbClr val="FFFFFF"/>
                </a:solidFill>
              </a:defRPr>
            </a:pPr>
          </a:p>
        </p:txBody>
      </p:sp>
      <p:sp>
        <p:nvSpPr>
          <p:cNvPr id="7" name="Oval 6"/>
          <p:cNvSpPr/>
          <p:nvPr/>
        </p:nvSpPr>
        <p:spPr>
          <a:xfrm>
            <a:off x="6583680" y="141732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" b="1">
                <a:solidFill>
                  <a:srgbClr val="FFFFFF"/>
                </a:solidFill>
              </a:defRPr>
            </a:pPr>
          </a:p>
        </p:txBody>
      </p:sp>
      <p:pic>
        <p:nvPicPr>
          <p:cNvPr id="9" name="Picture 8" descr="water_pol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874519"/>
            <a:ext cx="3886200" cy="2788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1143000"/>
            <a:ext cx="40233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2355B"/>
                </a:solidFill>
              </a:defRPr>
            </a:pPr>
            <a:r>
              <a:t>WATER AND</a:t>
            </a:r>
            <a:br/>
            <a:r>
              <a:t>SOIL POLLUTION</a:t>
            </a:r>
          </a:p>
          <a:p>
            <a:pPr>
              <a:spcBef>
                <a:spcPts val="1400"/>
              </a:spcBef>
              <a:defRPr sz="2000">
                <a:solidFill>
                  <a:srgbClr val="009688"/>
                </a:solidFill>
              </a:defRPr>
            </a:pPr>
            <a:r>
              <a:t>Environmental Studies</a:t>
            </a:r>
          </a:p>
          <a:p>
            <a:pPr>
              <a:defRPr sz="1500">
                <a:solidFill>
                  <a:srgbClr val="607D8B"/>
                </a:solidFill>
              </a:defRPr>
            </a:pPr>
            <a:r>
              <a:t>Sources • Effects • Treatment • Conservation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Topics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16459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DDEAF7"/>
                </a:solidFill>
              </a:defRPr>
            </a:pPr>
            <a:r>
              <a:t>From syllabus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07899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Water pollution: definition, sources, pollutants and characteristics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801367"/>
            <a:ext cx="411480" cy="41148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4708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82880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Control measures and effects on humans, plants and animals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551176"/>
            <a:ext cx="411480" cy="41148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96896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57860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Water treatment and wastewater treatment processes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00984"/>
            <a:ext cx="411480" cy="41148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46703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28415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Water (Prevention and Control of Pollution) Act, 1974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050791"/>
            <a:ext cx="411480" cy="411480"/>
          </a:xfrm>
          <a:prstGeom prst="ellipse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96511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078224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Water conservation and rainwater harvesting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800600"/>
            <a:ext cx="411480" cy="411480"/>
          </a:xfrm>
          <a:prstGeom prst="ellipse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828031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63238"/>
                </a:solidFill>
              </a:defRPr>
            </a:pPr>
            <a:r>
              <a:t>Soil pollution: causes, effects and preventive measures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 Water Pollution: Definition and Sources</a:t>
            </a:r>
          </a:p>
        </p:txBody>
      </p:sp>
      <p:pic>
        <p:nvPicPr>
          <p:cNvPr id="5" name="Picture 4" descr="water_pol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3703320" cy="2286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143000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82296" cy="1417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280160"/>
            <a:ext cx="36575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363016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Water pollution is the contamination of surface water or groundwater that changes its physical, chemical or biological quality and makes it harmful or unfit for intended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88920"/>
            <a:ext cx="39776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82296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926079"/>
            <a:ext cx="36575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Major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83279"/>
            <a:ext cx="363016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Domestic sewage and municipal waste</a:t>
            </a:r>
            <a:br/>
            <a:r>
              <a:t>• Industrial effluents</a:t>
            </a:r>
            <a:br/>
            <a:r>
              <a:t>• Agricultural runoff</a:t>
            </a:r>
            <a:br/>
            <a:r>
              <a:t>• Oil, plastics and solid waste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703320"/>
            <a:ext cx="3703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92040" y="3703320"/>
            <a:ext cx="82296" cy="141732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93207" y="3840480"/>
            <a:ext cx="3383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Point vs non-point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93207" y="4297680"/>
            <a:ext cx="335584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Point source: discharge from an identifiable outlet such as a pipe.</a:t>
            </a:r>
            <a:br/>
            <a:r>
              <a:t>Non-point source: diffuse runoff from farms, roads and urban areas.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4.2 Types of Water Pollutants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82296" cy="1965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34439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Physical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225856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Colour, odour, turbidity, suspended solids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097280"/>
            <a:ext cx="82296" cy="1965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234439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Chemical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1691640"/>
            <a:ext cx="225856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Acids, salts, nutrients, metals, pesticides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9728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097280"/>
            <a:ext cx="82296" cy="19659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234439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Biological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691640"/>
            <a:ext cx="225856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Bacteria, viruses, protozoa, parasites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2900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29000"/>
            <a:ext cx="82296" cy="19659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566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Radioactive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4023360"/>
            <a:ext cx="225856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Radioisotopes from medical, industrial or nuclear 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42900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3429000"/>
            <a:ext cx="82296" cy="1965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3566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C107"/>
                </a:solidFill>
              </a:defRPr>
            </a:pPr>
            <a:r>
              <a:t>Thermal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023360"/>
            <a:ext cx="225856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Hot-water discharge that raises water temperature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42900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429000"/>
            <a:ext cx="82296" cy="1965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35661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</a:defRPr>
            </a:pPr>
            <a:r>
              <a:t>Plastic / solid waste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4023360"/>
            <a:ext cx="225856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Plastic bags, bottles, microplastics and floating debris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4.3 Characteristics of Water Pollutants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82296" cy="1325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188719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Biodegradable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45919"/>
            <a:ext cx="353872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Can be broken down by microorganisms; excess can deplete oxygen.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05156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82296" cy="1325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188719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Non-biodegradable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645919"/>
            <a:ext cx="353872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Persist for long periods, e.g., many plastics and some toxic chemicals.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97480"/>
            <a:ext cx="82296" cy="1325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Toxic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291840"/>
            <a:ext cx="353872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Can harm humans and aquatic organisms even at low concentrations.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269748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697480"/>
            <a:ext cx="82296" cy="13258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283464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Nutrients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291840"/>
            <a:ext cx="353872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Nitrogen and phosphorus can cause eutrophication and algal blooms.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4340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343400"/>
            <a:ext cx="82296" cy="132588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48056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Oxygen-demanding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4937760"/>
            <a:ext cx="353872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Organic matter increases BOD/COD and reduces dissolved oxygen.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4343400"/>
            <a:ext cx="3886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4343400"/>
            <a:ext cx="82296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4480560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</a:defRPr>
            </a:pPr>
            <a:r>
              <a:t>Persistent / bioaccumulative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4937760"/>
            <a:ext cx="353872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Some pollutants build up in organisms and food chains.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4.4 Control Measures of Water Pollution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234439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536192"/>
            <a:ext cx="11612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Reduce at source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10512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38527" y="1417320"/>
            <a:ext cx="1234439" cy="685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5103" y="1536192"/>
            <a:ext cx="11612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Treat sewage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154679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82695" y="1417320"/>
            <a:ext cx="1234439" cy="6858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1" y="1536192"/>
            <a:ext cx="11612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Treat industrial effluent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98848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26864" y="1417320"/>
            <a:ext cx="1234439" cy="685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536192"/>
            <a:ext cx="11612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Control farm runoff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43016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71031" y="1417320"/>
            <a:ext cx="1234439" cy="685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07607" y="1536192"/>
            <a:ext cx="11612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Reuse &amp; recycle water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87183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199" y="1417320"/>
            <a:ext cx="1234439" cy="6858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51775" y="1536192"/>
            <a:ext cx="11612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Enforce standards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43200"/>
            <a:ext cx="7955279" cy="30175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</a:defRPr>
            </a:pPr>
            <a:r>
              <a:t>• Use cleaner production methods and minimize waste generation.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</a:defRPr>
            </a:pPr>
            <a:r>
              <a:t>• Install sewage treatment plants (STPs) and effluent treatment plants (ETPs).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</a:defRPr>
            </a:pPr>
            <a:r>
              <a:t>• Prevent dumping of plastics, oils and chemicals into water bodies.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</a:defRPr>
            </a:pPr>
            <a:r>
              <a:t>• Promote buffer strips, balanced fertilizer use and integrated pest management.</a:t>
            </a:r>
          </a:p>
          <a:p>
            <a:pPr>
              <a:spcAft>
                <a:spcPts val="900"/>
              </a:spcAft>
              <a:defRPr sz="1700">
                <a:solidFill>
                  <a:srgbClr val="263238"/>
                </a:solidFill>
              </a:defRPr>
            </a:pPr>
            <a:r>
              <a:t>• Regular monitoring, public awareness and strict enforcement are essential.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4.5 Effects of Water Pollution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82296" cy="182880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28016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Human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737360"/>
            <a:ext cx="3401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Water-borne diseases, poisoning, skin problems and long-term health risks.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14300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43000"/>
            <a:ext cx="82296" cy="1828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6048" y="128016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Aquatic life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6048" y="1737360"/>
            <a:ext cx="3401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Fish kills, reduced dissolved oxygen and habitat destruction.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8328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383280"/>
            <a:ext cx="82296" cy="1828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352044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Ecosystems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3977640"/>
            <a:ext cx="3401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Algal blooms, eutrophication and loss of biodiversity.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383280"/>
            <a:ext cx="3749039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383280"/>
            <a:ext cx="82296" cy="1828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352044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Economy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6048" y="3977640"/>
            <a:ext cx="340156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Higher water-treatment costs and losses to fisheries and tourism.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4.6 Effects on Plants and Animals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74903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82296" cy="20116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34439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Effects on plants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Toxic metals can inhibit growth.</a:t>
            </a:r>
            <a:br/>
            <a:r>
              <a:t>• Polluted irrigation water can damage crops.</a:t>
            </a:r>
            <a:br/>
            <a:r>
              <a:t>• Excess nutrients cause abnormal algal growth.</a:t>
            </a:r>
            <a:br/>
            <a:r>
              <a:t>• Soil and water chemistry may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097280"/>
            <a:ext cx="3749039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097280"/>
            <a:ext cx="82296" cy="20116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234439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Effects on animals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691640"/>
            <a:ext cx="34015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Low dissolved oxygen can suffocate fish.</a:t>
            </a:r>
            <a:br/>
            <a:r>
              <a:t>• Toxins may bioaccumulate in tissues.</a:t>
            </a:r>
            <a:br/>
            <a:r>
              <a:t>• Reproduction and growth can be affected.</a:t>
            </a:r>
            <a:br/>
            <a:r>
              <a:t>• Food chains can be disrupted.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77639"/>
            <a:ext cx="1906524" cy="68580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4096511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Pollution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82596" y="416052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10612" y="3977639"/>
            <a:ext cx="1906524" cy="685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47188" y="4096511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Less oxygen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498848" y="416052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26864" y="3977639"/>
            <a:ext cx="1906524" cy="6858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4096511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Stress / death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515100" y="416052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43116" y="3977639"/>
            <a:ext cx="1906524" cy="6858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9692" y="4096511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Biodiversity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4.7 Water Treatment Process</a:t>
            </a:r>
          </a:p>
        </p:txBody>
      </p:sp>
      <p:pic>
        <p:nvPicPr>
          <p:cNvPr id="5" name="Picture 4" descr="water_treat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51560"/>
            <a:ext cx="7955279" cy="4800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4.8 Unit Operations in Water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82296" cy="1965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3443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9164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Removes large floating objects.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0972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097280"/>
            <a:ext cx="82296" cy="196596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23443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BCD4"/>
                </a:solidFill>
              </a:defRPr>
            </a:pPr>
            <a:r>
              <a:t>Aeration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169164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Adds oxygen and removes some gases/odour.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0972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00600" y="1097280"/>
            <a:ext cx="82296" cy="19659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123443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Coagulation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1768" y="169164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Destabilizes fine particles.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59" y="109728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95159" y="1097280"/>
            <a:ext cx="82296" cy="1965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96327" y="123443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Flocculation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7" y="169164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Forms larger flocs for easy settling.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520439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520439"/>
            <a:ext cx="82296" cy="1965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65759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Sedimentation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11480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Settles suspended particles.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3520439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3520439"/>
            <a:ext cx="82296" cy="1965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7208" y="365759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</a:defRPr>
            </a:pPr>
            <a:r>
              <a:t>Filtration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7208" y="411480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Removes remaining fine particles.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3520439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00600" y="3520439"/>
            <a:ext cx="82296" cy="19659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1768" y="365759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Disinfection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01768" y="411480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Kills or inactivates pathogens.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95159" y="3520439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5159" y="3520439"/>
            <a:ext cx="82296" cy="1965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96327" y="3657599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C107"/>
                </a:solidFill>
              </a:defRPr>
            </a:pPr>
            <a:r>
              <a:t>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96327" y="411480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Provides contact time and supply balance.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4.9 Wastewater Treatment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503273" cy="685800"/>
          </a:xfrm>
          <a:prstGeom prst="round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444752"/>
            <a:ext cx="143012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Preliminary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79345" y="150876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07361" y="1325880"/>
            <a:ext cx="1503273" cy="6858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3937" y="1444752"/>
            <a:ext cx="143012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Primary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92347" y="150876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20363" y="1325880"/>
            <a:ext cx="1503273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6939" y="1444752"/>
            <a:ext cx="143012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Secondary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05348" y="150876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33364" y="1325880"/>
            <a:ext cx="1503273" cy="685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69940" y="1444752"/>
            <a:ext cx="143012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Tertiary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918350" y="150876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6366" y="1325880"/>
            <a:ext cx="1503273" cy="6858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2942" y="1444752"/>
            <a:ext cx="143012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Disinfection / 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514600"/>
            <a:ext cx="7772400" cy="3200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Preliminary treatment: screening and grit removal.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Primary treatment: sedimentation removes settleable solids.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Secondary treatment: microorganisms remove biodegradable organic matter.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Tertiary treatment: removes nutrients, fine solids and specific pollutants.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Final disinfection may be used before discharge or reuse.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4.10 Unit Operations in Wastewater Treatment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" cy="19659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8016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Bar screen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73736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Large solids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4300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51760" y="1143000"/>
            <a:ext cx="82296" cy="1965960"/>
          </a:xfrm>
          <a:prstGeom prst="rect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128016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07D8B"/>
                </a:solidFill>
              </a:defRPr>
            </a:pPr>
            <a:r>
              <a:t>Grit chamber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173736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Sand and grit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114300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0" y="1143000"/>
            <a:ext cx="82296" cy="19659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7488" y="128016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Primary clarifier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73736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Settleable solids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114300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79" y="1143000"/>
            <a:ext cx="82296" cy="1965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7" y="128016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Aeration tank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7" y="173736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Biological treatment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566160"/>
            <a:ext cx="82296" cy="1965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70332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9688"/>
                </a:solidFill>
              </a:defRPr>
            </a:pPr>
            <a:r>
              <a:t>Secondary clarifier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16052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Biomass separation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356616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51760" y="3566160"/>
            <a:ext cx="82296" cy="196596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2928" y="370332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52928" y="416052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Fine particles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356616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3566160"/>
            <a:ext cx="82296" cy="19659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7488" y="370332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Disinfection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416052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Pathogen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79" y="3566160"/>
            <a:ext cx="19659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79" y="3566160"/>
            <a:ext cx="82296" cy="1965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42047" y="3703320"/>
            <a:ext cx="164591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C107"/>
                </a:solidFill>
              </a:defRPr>
            </a:pPr>
            <a:r>
              <a:t>Sludge handling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42047" y="4160520"/>
            <a:ext cx="1618488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Thickening, digestion and disposal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4.11 Water (Prevention and Control of Pollution) Act, 1974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3794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97280"/>
            <a:ext cx="82296" cy="1828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3443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91640"/>
            <a:ext cx="344728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Provides a legal framework to prevent and control water pollution and maintain the wholesomeness of water.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097280"/>
            <a:ext cx="3794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097280"/>
            <a:ext cx="82296" cy="1828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234439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Pollution Control 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691640"/>
            <a:ext cx="344728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Creates/strengthens Central and State Pollution Control Boards to monitor pollution and implement the Act.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37560"/>
            <a:ext cx="3794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337560"/>
            <a:ext cx="82296" cy="1828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4747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Consent mechanism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31920"/>
            <a:ext cx="344728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Certain industries/discharges require consent from the pollution control authority before establishing or operating.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337560"/>
            <a:ext cx="37947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3337560"/>
            <a:ext cx="82296" cy="18288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347472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Importance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3931920"/>
            <a:ext cx="3447288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Encourages standards, monitoring, legal action and coordinated pollution-control measures.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4.12 Water Conservation &amp; Rainwater Harvesting</a:t>
            </a:r>
          </a:p>
        </p:txBody>
      </p:sp>
      <p:sp>
        <p:nvSpPr>
          <p:cNvPr id="5" name="Isosceles Triangle 4"/>
          <p:cNvSpPr/>
          <p:nvPr/>
        </p:nvSpPr>
        <p:spPr>
          <a:xfrm>
            <a:off x="685800" y="1234440"/>
            <a:ext cx="3749039" cy="1920240"/>
          </a:xfrm>
          <a:prstGeom prst="triangle">
            <a:avLst/>
          </a:prstGeom>
          <a:solidFill>
            <a:srgbClr val="FF8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2331720"/>
            <a:ext cx="2743200" cy="1600200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4160520"/>
            <a:ext cx="1554480" cy="9144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4407408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Storage tank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3017520"/>
            <a:ext cx="868680" cy="1325880"/>
          </a:xfrm>
          <a:prstGeom prst="line">
            <a:avLst/>
          </a:prstGeom>
          <a:ln w="635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0" y="1234440"/>
            <a:ext cx="37490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234440"/>
            <a:ext cx="82296" cy="141732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0328" y="137160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BCD4"/>
                </a:solidFill>
              </a:defRPr>
            </a:pPr>
            <a:r>
              <a:t>What is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828800"/>
            <a:ext cx="340156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Collecting and storing rainwater from rooftops or open areas for later use or groundwater recharge.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9160" y="2880360"/>
            <a:ext cx="3749039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9160" y="2880360"/>
            <a:ext cx="82296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301752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Importance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0328" y="3474720"/>
            <a:ext cx="340156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Reduces pressure on groundwater, improves water availability and reduces storm-water runoff.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526280"/>
            <a:ext cx="374903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4526280"/>
            <a:ext cx="82296" cy="1143000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0328" y="4663440"/>
            <a:ext cx="342899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5120640"/>
            <a:ext cx="3401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Rooftop collection • Recharge pits • Recharge wells • Storage tanks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4.13 Soil Pollution</a:t>
            </a:r>
          </a:p>
        </p:txBody>
      </p:sp>
      <p:pic>
        <p:nvPicPr>
          <p:cNvPr id="5" name="Picture 4" descr="soil_pol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457200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349240" y="10972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49240" y="1097280"/>
            <a:ext cx="82296" cy="1325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7" y="1234439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7" y="1691640"/>
            <a:ext cx="289864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Soil pollution is the accumulation of harmful substances in soil that reduces soil quality and can affect plants, animals and humans.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65176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49240" y="2651760"/>
            <a:ext cx="82296" cy="1325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50407" y="278892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Major 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0407" y="3246120"/>
            <a:ext cx="289864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Industrial waste, municipal solid waste, plastics, excessive fertilizers, pesticides, oil and mining residues.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42062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49240" y="4206240"/>
            <a:ext cx="82296" cy="1325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0407" y="4343400"/>
            <a:ext cx="29260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CAF50"/>
                </a:solidFill>
              </a:defRPr>
            </a:pPr>
            <a: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0407" y="4800600"/>
            <a:ext cx="2898648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Pollutants can reduce fertility, contaminate groundwater and enter the food chain.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4.13.1–4.13.2 Causes and Effects of Fertilizers, Pesticides &amp; Insecticides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3840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82296" cy="1874519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34439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9800"/>
                </a:solidFill>
              </a:defRPr>
            </a:pPr>
            <a:r>
              <a:t>Causes /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691640"/>
            <a:ext cx="349300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Excess chemical fertilizers</a:t>
            </a:r>
            <a:br/>
            <a:r>
              <a:t>• Repeated pesticide and insecticide use</a:t>
            </a:r>
            <a:br/>
            <a:r>
              <a:t>• Improper disposal of chemical containers</a:t>
            </a:r>
            <a:br/>
            <a:r>
              <a:t>• Industrial and agricultural waste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1097280"/>
            <a:ext cx="3840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1097280"/>
            <a:ext cx="82296" cy="1874519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1768" y="1234439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4336"/>
                </a:solidFill>
              </a:defRPr>
            </a:pPr>
            <a:r>
              <a:t>Effects on soil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1768" y="1691640"/>
            <a:ext cx="349300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Loss of beneficial microorganisms</a:t>
            </a:r>
            <a:br/>
            <a:r>
              <a:t>• Soil acidification or salinity</a:t>
            </a:r>
            <a:br/>
            <a:r>
              <a:t>• Reduced fertility and organic matter</a:t>
            </a:r>
            <a:br/>
            <a:r>
              <a:t>• Toxic residues may persist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83280"/>
            <a:ext cx="3840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82296" cy="187451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520440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96F3"/>
                </a:solidFill>
              </a:defRPr>
            </a:pPr>
            <a:r>
              <a:t>Effects on 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3977640"/>
            <a:ext cx="349300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Chemicals can leach into groundwater</a:t>
            </a:r>
            <a:br/>
            <a:r>
              <a:t>• Runoff can contaminate rivers and lakes</a:t>
            </a:r>
            <a:br/>
            <a:r>
              <a:t>• Nutrients may cause eutrophication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383280"/>
            <a:ext cx="38404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3383280"/>
            <a:ext cx="82296" cy="1874519"/>
          </a:xfrm>
          <a:prstGeom prst="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1768" y="3520440"/>
            <a:ext cx="3520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7E57C2"/>
                </a:solidFill>
              </a:defRPr>
            </a:pPr>
            <a:r>
              <a:t>Effects on living organisms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3977640"/>
            <a:ext cx="3493008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263238"/>
                </a:solidFill>
              </a:defRPr>
            </a:pPr>
            <a:r>
              <a:t>• Harm to earthworms and pollinators</a:t>
            </a:r>
            <a:br/>
            <a:r>
              <a:t>• Residues can enter food chains</a:t>
            </a:r>
            <a:br/>
            <a:r>
              <a:t>• Long-term exposure can create ecological and health risks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4.13.3 Preventive Measures of Soil Pollution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955279" cy="51206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Use fertilizers only according to soil-test recommendations.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Prefer compost, green manure and other organic nutrient sources where suitable.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Adopt integrated pest management (IPM) and biological control.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Use the correct pesticide, dose and application method; avoid unnecessary spraying.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Dispose of pesticide containers and hazardous wastes safely.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Prevent erosion and maintain vegetation cover.</a:t>
            </a:r>
          </a:p>
          <a:p>
            <a:pPr>
              <a:spcAft>
                <a:spcPts val="900"/>
              </a:spcAft>
              <a:defRPr sz="1800">
                <a:solidFill>
                  <a:srgbClr val="263238"/>
                </a:solidFill>
              </a:defRPr>
            </a:pPr>
            <a:r>
              <a:t>• Treat industrial and municipal waste before disposal.</a:t>
            </a:r>
          </a:p>
        </p:txBody>
      </p:sp>
      <p:sp>
        <p:nvSpPr>
          <p:cNvPr id="6" name="Oval 5"/>
          <p:cNvSpPr/>
          <p:nvPr/>
        </p:nvSpPr>
        <p:spPr>
          <a:xfrm>
            <a:off x="7223760" y="1280160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3258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3258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Soil testing</a:t>
            </a:r>
          </a:p>
        </p:txBody>
      </p:sp>
      <p:sp>
        <p:nvSpPr>
          <p:cNvPr id="9" name="Oval 8"/>
          <p:cNvSpPr/>
          <p:nvPr/>
        </p:nvSpPr>
        <p:spPr>
          <a:xfrm>
            <a:off x="7223760" y="2194560"/>
            <a:ext cx="502920" cy="502920"/>
          </a:xfrm>
          <a:prstGeom prst="ellipse">
            <a:avLst/>
          </a:prstGeom>
          <a:solidFill>
            <a:srgbClr val="8BC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2240279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2402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Organic manure</a:t>
            </a:r>
          </a:p>
        </p:txBody>
      </p:sp>
      <p:sp>
        <p:nvSpPr>
          <p:cNvPr id="12" name="Oval 11"/>
          <p:cNvSpPr/>
          <p:nvPr/>
        </p:nvSpPr>
        <p:spPr>
          <a:xfrm>
            <a:off x="7223760" y="310896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3154679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1546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IPM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0" y="4023360"/>
            <a:ext cx="502920" cy="5029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40690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069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Safe disposal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493776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9834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4983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3238"/>
                </a:solidFill>
              </a:defRPr>
            </a:pPr>
            <a:r>
              <a:t>Erosion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8321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906524" cy="6858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536192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Prevent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82596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10612" y="1417320"/>
            <a:ext cx="1906524" cy="6858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47188" y="1536192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Treat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498848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26864" y="1417320"/>
            <a:ext cx="1906524" cy="685800"/>
          </a:xfrm>
          <a:prstGeom prst="round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536192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Conserve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515100" y="1600200"/>
            <a:ext cx="182880" cy="310896"/>
          </a:xfrm>
          <a:prstGeom prst="rightArrow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43116" y="1417320"/>
            <a:ext cx="1906524" cy="685800"/>
          </a:xfrm>
          <a:prstGeom prst="roundRect">
            <a:avLst/>
          </a:prstGeom>
          <a:solidFill>
            <a:srgbClr val="7E5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9692" y="1536192"/>
            <a:ext cx="183337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43200"/>
            <a:ext cx="7772400" cy="26517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</a:defRPr>
            </a:pPr>
            <a:r>
              <a:t>• Water and soil pollution are closely linked to human activities and poor waste management.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</a:defRPr>
            </a:pPr>
            <a:r>
              <a:t>• Prevention at the source is usually more effective and economical than cleanup later.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</a:defRPr>
            </a:pPr>
            <a:r>
              <a:t>• Treatment technologies, laws, conservation and public participation work together.</a:t>
            </a:r>
          </a:p>
          <a:p>
            <a:pPr>
              <a:spcAft>
                <a:spcPts val="900"/>
              </a:spcAft>
              <a:defRPr sz="1900">
                <a:solidFill>
                  <a:srgbClr val="263238"/>
                </a:solidFill>
              </a:defRPr>
            </a:pPr>
            <a:r>
              <a:t>• Rainwater harvesting and sustainable farming practices help protect natural resources.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623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355B"/>
                </a:solidFill>
              </a:defRPr>
            </a:pPr>
            <a:r>
              <a:t>Thank You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6510528"/>
            <a:ext cx="832104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656539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7D8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